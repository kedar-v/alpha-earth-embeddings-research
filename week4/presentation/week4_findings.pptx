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92" r:id="rId44"/>
    <p:sldId id="293" r:id="rId45"/>
    <p:sldId id="294" r:id="rId46"/>
    <p:sldId id="295" r:id="rId47"/>
    <p:sldId id="296" r:id="rId48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downtowns, leave-one-metro-out, frozen 64-D AlphaEarth, then 100 m tiles and 3D ViTs. One claim: the useful residential direction is short; geography lives in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Pure cells under resi_def_v1. Balance seed 42. Same folds across linear and tile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Phoenix and Atlanta sit high. NYC and SF sit near 0.66. The spread is the geographic uncertainty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Supervised PLS beats PCA at the same width. Strong L1 collapses the head onto t₁. Visual: week4/geo_subspace_analysis/figures/paper/01_retention_vs_k.png</a:t>
            </a:r>
          </a:p>
          <a:p/>
          <a:p>
            <a:r>
              <a:t>PLS k=4</a:t>
            </a:r>
          </a:p>
          <a:p>
            <a:r>
              <a:t>≥95% of full 64-D F1</a:t>
            </a:r>
          </a:p>
          <a:p>
            <a:r>
              <a:t>PCA k=15</a:t>
            </a:r>
          </a:p>
          <a:p>
            <a:r>
              <a:t>Same 95% retention</a:t>
            </a:r>
          </a:p>
          <a:p>
            <a:r>
              <a:t>L1 → t₁</a:t>
            </a:r>
          </a:p>
          <a:p>
            <a:r>
              <a:t>F1 0.735 at C=10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sparsity story at both scales. This is mean-pool 64-D, not the 10×10 grid model. Visual: outputs/week4_pls_10m_vs_100m/figures/f1_family_10m_vs_100m.png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target was 3. Raising the held-out gap did not beat linear F1. Each fold has its own 3D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 metros in the NYC fold still separate (best val gap 3.33). Failure is the held-out cloud. Full LORO + NYC-fold validation cluster gallery is appended after slide 12.</a:t>
            </a:r>
          </a:p>
          <a:p/>
          <a:p>
            <a:r>
              <a:t>Atlanta F1 0.898</a:t>
            </a:r>
          </a:p>
          <a:p>
            <a:r>
              <a:t>Held-out gap 3.51</a:t>
            </a:r>
          </a:p>
          <a:p>
            <a:r>
              <a:t>NYC F1 0.586</a:t>
            </a:r>
          </a:p>
          <a:p>
            <a:r>
              <a:t>Held-out gap 0.63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Units are metros and 45 pairs. Pair correlations are descriptive. Visual: week4/geo_subspace_analysis/figures/subspace_k2.png</a:t>
            </a:r>
          </a:p>
          <a:p/>
          <a:p>
            <a:r>
              <a:t>Signal?</a:t>
            </a:r>
          </a:p>
          <a:p>
            <a:r>
              <a:t>LORO 64-D mean F1 0.779</a:t>
            </a:r>
          </a:p>
          <a:p>
            <a:r>
              <a:t>How short?</a:t>
            </a:r>
          </a:p>
          <a:p>
            <a:r>
              <a:t>PLS ≥95% at k=4</a:t>
            </a:r>
          </a:p>
          <a:p>
            <a:r>
              <a:t>Shared?</a:t>
            </a:r>
          </a:p>
          <a:p>
            <a:r>
              <a:t>Partly; short PLS transfers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 components fit the source metro and travel worse. k=2 similarity tracks retention (ρ≈0.32); geography does not. Visual: week4/geo_subspace_analysis/figures/paper/04_transfer_matrices.png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Pixel diagnostic. Geography re-enters after the first few components. Visual: week4/geo_subspace_analysis/figures/paper/02_pareto_building_vs_metro.png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Cosine of means is not a subspace test; k=2 similarity tells the same story.</a:t>
            </a:r>
          </a:p>
          <a:p/>
          <a:p>
            <a:r>
              <a:t>NYC ↔ Chicago cosine 0.815</a:t>
            </a:r>
          </a:p>
          <a:p>
            <a:r>
              <a:t>NYC ↔ Atlanta 0.479</a:t>
            </a:r>
          </a:p>
          <a:p>
            <a:r>
              <a:t>v4 NYC failure is not a rotated axis (min cosine 0.995)</a:t>
            </a:r>
          </a:p>
          <a:p>
            <a:r>
              <a:t>Axis shared · cloud still overlaps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short residential direction. Geography lives in the rest of the 64-D probe. Ten US downtowns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Pipeline: 10×10 AE cells + mask → PLS-DA k=9 per occupied cell → ViT width 128 class token → linear map to z∈R³ → loss on z. v4 batches one metro, balanced RES/NRES; stop on val sep/within targeting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v1: BCE and SupCon both train z (λ=1, τ=0.1). v2/v3: detach BCE head so only SupCon trains the encoder (λ=10, τ annealed). v4: drop SupCon; pull class centers + relu gap until sep/within ≥ 3, with BCE on the same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a contrastive term that does not share gradients with the classifier does not make held-out metros separate. Even with explicit gap loss (v4), mean-pool LR still wins on LORO F1 (0.761 vs 0.738).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Mean-pool LR 0.761. Best ViT 3D cluster run (v4) 0.738 F1 at mean gap 2.13 (target 3). Atlanta/Phoenix clear; NYC stays a single cloud (gap 0.63).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35.png"/><Relationship Id="rId5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007417"/>
            <a:ext cx="670560" cy="50800"/>
          </a:xfrm>
          <a:prstGeom prst="rect">
            <a:avLst/>
          </a:prstGeom>
          <a:solidFill>
            <a:srgbClr val="1E9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2240639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>
                <a:solidFill>
                  <a:srgbClr val="0A192F"/>
                </a:solidFill>
              </a:rPr>
              <a:t>Residential signal in frozen embeddings</a:t>
            </a:r>
          </a:p>
        </p:txBody>
      </p:sp>
      <p:sp>
        <p:nvSpPr>
          <p:cNvPr id="4" name="slides-field:Subtitle"/>
          <p:cNvSpPr txBox="1"/>
          <p:nvPr/>
        </p:nvSpPr>
        <p:spPr>
          <a:xfrm>
            <a:off x="609600" y="416065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6C757D"/>
                </a:solidFill>
              </a:rPr>
              <a:t>Compact · partly shared · geographically brittle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block:card-grid:0"/>
          <p:cNvSpPr/>
          <p:nvPr/>
        </p:nvSpPr>
        <p:spPr>
          <a:xfrm>
            <a:off x="609600" y="2309870"/>
            <a:ext cx="2590495" cy="2814903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0A1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block:card-grid:0"/>
          <p:cNvSpPr/>
          <p:nvPr/>
        </p:nvSpPr>
        <p:spPr>
          <a:xfrm>
            <a:off x="3403701" y="2309870"/>
            <a:ext cx="2590495" cy="2814903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0A1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s-block:card-grid:0"/>
          <p:cNvSpPr/>
          <p:nvPr/>
        </p:nvSpPr>
        <p:spPr>
          <a:xfrm>
            <a:off x="6197802" y="2309870"/>
            <a:ext cx="2590495" cy="2814903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0A1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s-block:card-grid:0"/>
          <p:cNvSpPr/>
          <p:nvPr/>
        </p:nvSpPr>
        <p:spPr>
          <a:xfrm>
            <a:off x="8991903" y="2309870"/>
            <a:ext cx="2590497" cy="2814903"/>
          </a:xfrm>
          <a:prstGeom prst="roundRect">
            <a:avLst/>
          </a:prstGeom>
          <a:solidFill>
            <a:srgbClr val="F9FAFC"/>
          </a:solidFill>
          <a:ln w="12700">
            <a:solidFill>
              <a:srgbClr val="0A1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Standardized experimental protocol</a:t>
            </a:r>
          </a:p>
        </p:txBody>
      </p:sp>
      <p:sp>
        <p:nvSpPr>
          <p:cNvPr id="7" name="slides-block:card-grid:0"/>
          <p:cNvSpPr txBox="1"/>
          <p:nvPr/>
        </p:nvSpPr>
        <p:spPr>
          <a:xfrm>
            <a:off x="813206" y="2513476"/>
            <a:ext cx="2183283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A192F"/>
                </a:solidFill>
              </a:rPr>
              <a:t>10 metros</a:t>
            </a:r>
          </a:p>
        </p:txBody>
      </p:sp>
      <p:sp>
        <p:nvSpPr>
          <p:cNvPr id="8" name="slides-block:card-grid:0"/>
          <p:cNvSpPr txBox="1"/>
          <p:nvPr/>
        </p:nvSpPr>
        <p:spPr>
          <a:xfrm>
            <a:off x="813206" y="3823887"/>
            <a:ext cx="21832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Downtown core boxes</a:t>
            </a:r>
          </a:p>
        </p:txBody>
      </p:sp>
      <p:sp>
        <p:nvSpPr>
          <p:cNvPr id="9" name="slides-block:card-grid:0"/>
          <p:cNvSpPr txBox="1"/>
          <p:nvPr/>
        </p:nvSpPr>
        <p:spPr>
          <a:xfrm>
            <a:off x="3607307" y="2513476"/>
            <a:ext cx="2183283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A192F"/>
                </a:solidFill>
              </a:rPr>
              <a:t>1.75M cells</a:t>
            </a:r>
          </a:p>
        </p:txBody>
      </p:sp>
      <p:sp>
        <p:nvSpPr>
          <p:cNvPr id="10" name="slides-block:card-grid:0"/>
          <p:cNvSpPr txBox="1"/>
          <p:nvPr/>
        </p:nvSpPr>
        <p:spPr>
          <a:xfrm>
            <a:off x="3607307" y="3823887"/>
            <a:ext cx="21832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Balanced 1:1 RES vs NRES</a:t>
            </a:r>
          </a:p>
        </p:txBody>
      </p:sp>
      <p:sp>
        <p:nvSpPr>
          <p:cNvPr id="11" name="slides-block:card-grid:0"/>
          <p:cNvSpPr txBox="1"/>
          <p:nvPr/>
        </p:nvSpPr>
        <p:spPr>
          <a:xfrm>
            <a:off x="6401408" y="2513476"/>
            <a:ext cx="2183283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A192F"/>
                </a:solidFill>
              </a:rPr>
              <a:t>64-D latent</a:t>
            </a:r>
          </a:p>
        </p:txBody>
      </p:sp>
      <p:sp>
        <p:nvSpPr>
          <p:cNvPr id="12" name="slides-block:card-grid:0"/>
          <p:cNvSpPr txBox="1"/>
          <p:nvPr/>
        </p:nvSpPr>
        <p:spPr>
          <a:xfrm>
            <a:off x="6401408" y="3823887"/>
            <a:ext cx="21832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Frozen AlphaEarth</a:t>
            </a:r>
          </a:p>
        </p:txBody>
      </p:sp>
      <p:sp>
        <p:nvSpPr>
          <p:cNvPr id="13" name="slides-block:card-grid:0"/>
          <p:cNvSpPr txBox="1"/>
          <p:nvPr/>
        </p:nvSpPr>
        <p:spPr>
          <a:xfrm>
            <a:off x="9195509" y="2513476"/>
            <a:ext cx="2183285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A192F"/>
                </a:solidFill>
              </a:rPr>
              <a:t>LORO split</a:t>
            </a:r>
          </a:p>
        </p:txBody>
      </p:sp>
      <p:sp>
        <p:nvSpPr>
          <p:cNvPr id="14" name="slides-block:card-grid:0"/>
          <p:cNvSpPr txBox="1"/>
          <p:nvPr/>
        </p:nvSpPr>
        <p:spPr>
          <a:xfrm>
            <a:off x="9195509" y="3823887"/>
            <a:ext cx="218328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Hold-out; threshold 0.50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tatement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Statement"/>
          <p:cNvSpPr txBox="1"/>
          <p:nvPr/>
        </p:nvSpPr>
        <p:spPr>
          <a:xfrm>
            <a:off x="411480" y="274320"/>
            <a:ext cx="11338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0">
                <a:solidFill>
                  <a:srgbClr val="0A192F"/>
                </a:solidFill>
              </a:rPr>
              <a:t>Mean LORO F1 0.779 — metro spread ±0.089</a:t>
            </a:r>
          </a:p>
        </p:txBody>
      </p:sp>
      <p:pic>
        <p:nvPicPr>
          <p:cNvPr id="3" name="Picture 2" descr="baseline_f1_by_me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88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s-field:Title"/>
          <p:cNvSpPr txBox="1"/>
          <p:nvPr/>
        </p:nvSpPr>
        <p:spPr>
          <a:xfrm>
            <a:off x="411480" y="27432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Building signal sits in a short supervised map</a:t>
            </a:r>
          </a:p>
        </p:txBody>
      </p:sp>
      <p:pic>
        <p:nvPicPr>
          <p:cNvPr id="6" name="Picture 5" descr="01_retention_vs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88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lides-field:Title"/>
          <p:cNvSpPr txBox="1"/>
          <p:nvPr/>
        </p:nvSpPr>
        <p:spPr>
          <a:xfrm>
            <a:off x="411480" y="27432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Mean-pooling to 100 m costs 0.01–0.02 F1</a:t>
            </a:r>
          </a:p>
        </p:txBody>
      </p:sp>
      <p:pic>
        <p:nvPicPr>
          <p:cNvPr id="4" name="Picture 3" descr="f1_family_10m_vs_100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88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slides-block:table:0"/>
          <p:cNvGraphicFramePr>
            <a:graphicFrameLocks noGrp="1"/>
          </p:cNvGraphicFramePr>
          <p:nvPr/>
        </p:nvGraphicFramePr>
        <p:xfrm>
          <a:off x="609600" y="2342754"/>
          <a:ext cx="10972800" cy="2741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9FAFC"/>
                          </a:solidFill>
                        </a:rPr>
                        <a:t>Run</a:t>
                      </a:r>
                    </a:p>
                  </a:txBody>
                  <a:tcPr anchor="ctr" marL="101803" marR="101803" marT="101803" marB="101803"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400" b="1">
                          <a:solidFill>
                            <a:srgbClr val="F9FAFC"/>
                          </a:solidFill>
                        </a:rPr>
                        <a:t>LORO F1</a:t>
                      </a:r>
                    </a:p>
                  </a:txBody>
                  <a:tcPr anchor="ctr" marL="101803" marR="101803" marT="101803" marB="101803"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9FAFC"/>
                          </a:solidFill>
                        </a:rPr>
                        <a:t>Mean gap</a:t>
                      </a:r>
                    </a:p>
                  </a:txBody>
                  <a:tcPr anchor="ctr" marL="101803" marR="101803" marT="101803" marB="101803">
                    <a:solidFill>
                      <a:srgbClr val="0A192F"/>
                    </a:solidFill>
                  </a:tcPr>
                </a:tc>
              </a:tr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Mean-pool LR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400" b="0">
                          <a:solidFill>
                            <a:srgbClr val="0A192F"/>
                          </a:solidFill>
                        </a:rPr>
                        <a:t>0.761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—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</a:tr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ViT 128-D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400" b="0">
                          <a:solidFill>
                            <a:srgbClr val="0A192F"/>
                          </a:solidFill>
                        </a:rPr>
                        <a:t>0.756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—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</a:tr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v1 Supervised Contrastive (SupCon)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400" b="0">
                          <a:solidFill>
                            <a:srgbClr val="0A192F"/>
                          </a:solidFill>
                        </a:rPr>
                        <a:t>0.732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1.76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</a:tr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v3 longer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400" b="0">
                          <a:solidFill>
                            <a:srgbClr val="0A192F"/>
                          </a:solidFill>
                        </a:rPr>
                        <a:t>0.735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1.71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6C757D"/>
                      </a:solidFill>
                    </a:lnB>
                    <a:solidFill>
                      <a:srgbClr val="F9FAFC"/>
                    </a:solidFill>
                  </a:tcPr>
                </a:tc>
              </a:tr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v4 gap loss</a:t>
                      </a:r>
                    </a:p>
                  </a:txBody>
                  <a:tcPr anchor="ctr" marL="101803" marR="101803" marT="101803" marB="101803"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400" b="0">
                          <a:solidFill>
                            <a:srgbClr val="0A192F"/>
                          </a:solidFill>
                        </a:rPr>
                        <a:t>0.738</a:t>
                      </a:r>
                    </a:p>
                  </a:txBody>
                  <a:tcPr anchor="ctr" marL="101803" marR="101803" marT="101803" marB="101803">
                    <a:solidFill>
                      <a:srgbClr val="F9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A192F"/>
                          </a:solidFill>
                        </a:rPr>
                        <a:t>2.13</a:t>
                      </a:r>
                    </a:p>
                  </a:txBody>
                  <a:tcPr anchor="ctr" marL="101803" marR="101803" marT="101803" marB="101803">
                    <a:solidFill>
                      <a:srgbClr val="F9FAFC"/>
                    </a:solidFill>
                  </a:tcPr>
                </a:tc>
              </a:tr>
            </a:tbl>
          </a:graphicData>
        </a:graphic>
      </p:graphicFrame>
      <p:sp>
        <p:nvSpPr>
          <p:cNvPr id="3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Linear 100 m still wins on 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90CA"/>
                </a:solidFill>
                <a:latin typeface="Calibri"/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ViT 3D tile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90CA"/>
                </a:solidFill>
                <a:latin typeface="Calibri"/>
              </a:defRPr>
            </a:pPr>
            <a:r>
              <a:t>Training pipeline · loss functions · what Supervised Contrastive (SupCon) did and did not 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ViT · 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100 m tile → 3D residential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Leave-one-metro-out · each fold owns its own 3D axes</a:t>
            </a:r>
          </a:p>
        </p:txBody>
      </p:sp>
      <p:pic>
        <p:nvPicPr>
          <p:cNvPr id="6" name="Picture 5" descr="vit_training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88720"/>
            <a:ext cx="11430000" cy="47158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ViT · LOSS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Two objectives tried on the same 3D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Left: BCE + Supervised Contrastive / SupCon (v1–v3; stop-grad on BCE head in v2/v3) · Right: BCE + pull + gap (v4)</a:t>
            </a:r>
          </a:p>
        </p:txBody>
      </p:sp>
      <p:pic>
        <p:nvPicPr>
          <p:cNvPr id="6" name="Picture 5" descr="vit_loss_func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097280"/>
            <a:ext cx="11430000" cy="50057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ViT · CONTRASTIVE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Supervised Contrastive (SupCon) did not deliver separable held-out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Detach the classifier and the encoder drifts back toward chance</a:t>
            </a:r>
          </a:p>
        </p:txBody>
      </p:sp>
      <p:pic>
        <p:nvPicPr>
          <p:cNvPr id="6" name="Picture 5" descr="vit_contrastive_find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88720"/>
            <a:ext cx="11430000" cy="45493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ViT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Calibri"/>
              </a:defRPr>
            </a:pPr>
            <a:r>
              <a:t>Ladder vs linear 100 m mean-pool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Raising the held-out gap did not beat linear F1</a:t>
            </a:r>
          </a:p>
        </p:txBody>
      </p:sp>
      <p:pic>
        <p:nvPicPr>
          <p:cNvPr id="6" name="Picture 5" descr="vit_results_lad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88720"/>
            <a:ext cx="11430000" cy="44826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wo-column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s-field:Title"/>
          <p:cNvSpPr txBox="1"/>
          <p:nvPr/>
        </p:nvSpPr>
        <p:spPr>
          <a:xfrm>
            <a:off x="411480" y="27432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Atlanta clears a gap of 3.5 · NYC does not</a:t>
            </a:r>
          </a:p>
        </p:txBody>
      </p:sp>
      <p:pic>
        <p:nvPicPr>
          <p:cNvPr id="5" name="Picture 4" descr="vit3d_Atlanta_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486400" cy="5029200"/>
          </a:xfrm>
          <a:prstGeom prst="rect">
            <a:avLst/>
          </a:prstGeom>
        </p:spPr>
      </p:pic>
      <p:pic>
        <p:nvPicPr>
          <p:cNvPr id="6" name="Picture 5" descr="vit3d_NYC_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14300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s-field:Title"/>
          <p:cNvSpPr txBox="1"/>
          <p:nvPr/>
        </p:nvSpPr>
        <p:spPr>
          <a:xfrm>
            <a:off x="411480" y="27432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Geographic subspaces — three questions</a:t>
            </a:r>
          </a:p>
        </p:txBody>
      </p:sp>
      <p:pic>
        <p:nvPicPr>
          <p:cNvPr id="6" name="Picture 5" descr="subspace_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88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lides-field:Title"/>
          <p:cNvSpPr txBox="1"/>
          <p:nvPr/>
        </p:nvSpPr>
        <p:spPr>
          <a:xfrm>
            <a:off x="411480" y="27432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Short PLS transfers better than full 64-D</a:t>
            </a:r>
          </a:p>
        </p:txBody>
      </p:sp>
      <p:pic>
        <p:nvPicPr>
          <p:cNvPr id="4" name="Picture 3" descr="04_transfer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88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lides-field:Title"/>
          <p:cNvSpPr txBox="1"/>
          <p:nvPr/>
        </p:nvSpPr>
        <p:spPr>
          <a:xfrm>
            <a:off x="411480" y="27432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PLS k=2 keeps the label · drops metro identity</a:t>
            </a:r>
          </a:p>
        </p:txBody>
      </p:sp>
      <p:pic>
        <p:nvPicPr>
          <p:cNvPr id="4" name="Picture 3" descr="02_pareto_building_vs_me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88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-content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s-field:Title"/>
          <p:cNvSpPr txBox="1"/>
          <p:nvPr/>
        </p:nvSpPr>
        <p:spPr>
          <a:xfrm>
            <a:off x="411480" y="27432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NYC aligns with Chicago — not easy targets</a:t>
            </a:r>
          </a:p>
        </p:txBody>
      </p:sp>
      <p:pic>
        <p:nvPicPr>
          <p:cNvPr id="7" name="Picture 6" descr="class_direction_cos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88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wo-column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1E9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0" y="1573884"/>
            <a:ext cx="0" cy="1736673"/>
          </a:xfrm>
          <a:prstGeom prst="bentConnector3">
            <a:avLst/>
          </a:prstGeom>
          <a:ln w="12700">
            <a:solidFill>
              <a:srgbClr val="6C7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A192F"/>
                </a:solidFill>
              </a:rPr>
              <a:t>What holds · what does not</a:t>
            </a:r>
          </a:p>
        </p:txBody>
      </p:sp>
      <p:sp>
        <p:nvSpPr>
          <p:cNvPr id="5" name="slides-field:Left"/>
          <p:cNvSpPr txBox="1"/>
          <p:nvPr/>
        </p:nvSpPr>
        <p:spPr>
          <a:xfrm>
            <a:off x="609600" y="1573884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~0.78 LORO F1 in frozen AE</a:t>
            </a:r>
          </a:p>
        </p:txBody>
      </p:sp>
      <p:sp>
        <p:nvSpPr>
          <p:cNvPr id="6" name="slides-field:Left"/>
          <p:cNvSpPr txBox="1"/>
          <p:nvPr/>
        </p:nvSpPr>
        <p:spPr>
          <a:xfrm>
            <a:off x="609600" y="2030855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Short PLS carries most of it</a:t>
            </a:r>
          </a:p>
        </p:txBody>
      </p:sp>
      <p:sp>
        <p:nvSpPr>
          <p:cNvPr id="7" name="slides-field:Left"/>
          <p:cNvSpPr txBox="1"/>
          <p:nvPr/>
        </p:nvSpPr>
        <p:spPr>
          <a:xfrm>
            <a:off x="609600" y="2487826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Subspaces only partly aligned</a:t>
            </a:r>
          </a:p>
        </p:txBody>
      </p:sp>
      <p:sp>
        <p:nvSpPr>
          <p:cNvPr id="8" name="slides-field:Left"/>
          <p:cNvSpPr txBox="1"/>
          <p:nvPr/>
        </p:nvSpPr>
        <p:spPr>
          <a:xfrm>
            <a:off x="609600" y="2944797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PLS k=2 ships better than 64-D</a:t>
            </a:r>
          </a:p>
        </p:txBody>
      </p:sp>
      <p:sp>
        <p:nvSpPr>
          <p:cNvPr id="9" name="slides-field:Right"/>
          <p:cNvSpPr txBox="1"/>
          <p:nvPr/>
        </p:nvSpPr>
        <p:spPr>
          <a:xfrm>
            <a:off x="6197803" y="1573884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Alignment causes transfer</a:t>
            </a:r>
          </a:p>
        </p:txBody>
      </p:sp>
      <p:sp>
        <p:nvSpPr>
          <p:cNvPr id="10" name="slides-field:Right"/>
          <p:cNvSpPr txBox="1"/>
          <p:nvPr/>
        </p:nvSpPr>
        <p:spPr>
          <a:xfrm>
            <a:off x="6197803" y="2030855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Global geographic generalization</a:t>
            </a:r>
          </a:p>
        </p:txBody>
      </p:sp>
      <p:sp>
        <p:nvSpPr>
          <p:cNvPr id="11" name="slides-field:Right"/>
          <p:cNvSpPr txBox="1"/>
          <p:nvPr/>
        </p:nvSpPr>
        <p:spPr>
          <a:xfrm>
            <a:off x="6197803" y="2487826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A192F"/>
                </a:solidFill>
              </a:rPr>
              <a:t>v4 fails because the axis is wrong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Appendix · v4 LORO held-out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90CA"/>
                </a:solidFill>
                <a:latin typeface="Calibri"/>
              </a:defRPr>
            </a:pPr>
            <a:r>
              <a:t>All ten metros · largest gap first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Held-out gap by metro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overview</a:t>
            </a:r>
          </a:p>
        </p:txBody>
      </p:sp>
      <p:pic>
        <p:nvPicPr>
          <p:cNvPr id="6" name="Picture 5" descr="vit3d_sep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85" y="1097280"/>
            <a:ext cx="8988949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2D 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overview</a:t>
            </a:r>
          </a:p>
        </p:txBody>
      </p:sp>
      <p:pic>
        <p:nvPicPr>
          <p:cNvPr id="6" name="Picture 5" descr="vit3d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" y="1097280"/>
            <a:ext cx="11244072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v4 vs v3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overview</a:t>
            </a:r>
          </a:p>
        </p:txBody>
      </p:sp>
      <p:pic>
        <p:nvPicPr>
          <p:cNvPr id="6" name="Picture 5" descr="v4_vs_v3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207" y="1097280"/>
            <a:ext cx="8841105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Atlanta 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0.898 · gap 3.51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Phoenix SW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0.878 · gap 3.19</a:t>
            </a:r>
          </a:p>
        </p:txBody>
      </p:sp>
      <p:pic>
        <p:nvPicPr>
          <p:cNvPr id="6" name="Picture 5" descr="vit3d_Phoenix_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Denver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0.862 · gap 3.15</a:t>
            </a:r>
          </a:p>
        </p:txBody>
      </p:sp>
      <p:pic>
        <p:nvPicPr>
          <p:cNvPr id="6" name="Picture 5" descr="vit3d_Denver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Seattle NW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0.824 · gap 2.81</a:t>
            </a:r>
          </a:p>
        </p:txBody>
      </p:sp>
      <p:pic>
        <p:nvPicPr>
          <p:cNvPr id="6" name="Picture 5" descr="vit3d_Seattle_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LA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0.793 · gap 2.50</a:t>
            </a:r>
          </a:p>
        </p:txBody>
      </p:sp>
      <p:pic>
        <p:nvPicPr>
          <p:cNvPr id="6" name="Picture 5" descr="vit3d_L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Houston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0.709 · gap 1.96</a:t>
            </a:r>
          </a:p>
        </p:txBody>
      </p:sp>
      <p:pic>
        <p:nvPicPr>
          <p:cNvPr id="6" name="Picture 5" descr="vit3d_Houston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Chicago MW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0.553 · gap 1.32</a:t>
            </a:r>
          </a:p>
        </p:txBody>
      </p:sp>
      <p:pic>
        <p:nvPicPr>
          <p:cNvPr id="6" name="Picture 5" descr="vit3d_Chicago_M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Boston 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0.693 · gap 1.30</a:t>
            </a:r>
          </a:p>
        </p:txBody>
      </p:sp>
      <p:pic>
        <p:nvPicPr>
          <p:cNvPr id="6" name="Picture 5" descr="vit3d_Boston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SF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0.584 · gap 0.99</a:t>
            </a:r>
          </a:p>
        </p:txBody>
      </p:sp>
      <p:pic>
        <p:nvPicPr>
          <p:cNvPr id="6" name="Picture 5" descr="vit3d_SF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LORO held-out · NYC 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F1 0.586 · gap 0.63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Appendix · validation while NYC held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90CA"/>
                </a:solidFill>
                <a:latin typeface="Calibri"/>
              </a:defRPr>
            </a:pPr>
            <a:r>
              <a:t>Same NYC-fold checkpoint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NYC-fold validation · Phoenix SW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Gap 5.44</a:t>
            </a:r>
          </a:p>
        </p:txBody>
      </p:sp>
      <p:pic>
        <p:nvPicPr>
          <p:cNvPr id="6" name="Picture 5" descr="val_nycfold_Phoenix_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NYC-fold validation · Atlanta 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Gap 4.98</a:t>
            </a:r>
          </a:p>
        </p:txBody>
      </p:sp>
      <p:pic>
        <p:nvPicPr>
          <p:cNvPr id="6" name="Picture 5" descr="val_nycfold_Atlanta_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NYC-fold validation · Denver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Gap 3.74</a:t>
            </a:r>
          </a:p>
        </p:txBody>
      </p:sp>
      <p:pic>
        <p:nvPicPr>
          <p:cNvPr id="6" name="Picture 5" descr="val_nycfold_Denver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NYC-fold validation · LA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Gap 3.71</a:t>
            </a:r>
          </a:p>
        </p:txBody>
      </p:sp>
      <p:pic>
        <p:nvPicPr>
          <p:cNvPr id="6" name="Picture 5" descr="val_nycfold_LA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NYC-fold validation · Seattle NW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Gap 3.59</a:t>
            </a:r>
          </a:p>
        </p:txBody>
      </p:sp>
      <p:pic>
        <p:nvPicPr>
          <p:cNvPr id="6" name="Picture 5" descr="val_nycfold_Seattle_N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NYC-fold validation · Houston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Gap 2.80</a:t>
            </a:r>
          </a:p>
        </p:txBody>
      </p:sp>
      <p:pic>
        <p:nvPicPr>
          <p:cNvPr id="6" name="Picture 5" descr="val_nycfold_Houston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NYC-fold validation · Chicago MW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Gap 2.01</a:t>
            </a:r>
          </a:p>
        </p:txBody>
      </p:sp>
      <p:pic>
        <p:nvPicPr>
          <p:cNvPr id="6" name="Picture 5" descr="val_nycfold_Chicago_M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NYC-fold validation · Boston 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Gap 1.90</a:t>
            </a:r>
          </a:p>
        </p:txBody>
      </p:sp>
      <p:pic>
        <p:nvPicPr>
          <p:cNvPr id="6" name="Picture 5" descr="val_nycfold_Boston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90CA"/>
                </a:solidFill>
                <a:latin typeface="Calibri"/>
              </a:defRPr>
            </a:pPr>
            <a:r>
              <a:t>APPENDIX ·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Calibri"/>
              </a:defRPr>
            </a:pPr>
            <a:r>
              <a:t>NYC-fold validation · SF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C757D"/>
                </a:solidFill>
                <a:latin typeface="Calibri"/>
              </a:defRPr>
            </a:pPr>
            <a:r>
              <a:t>Gap 1.82</a:t>
            </a:r>
          </a:p>
        </p:txBody>
      </p:sp>
      <p:pic>
        <p:nvPicPr>
          <p:cNvPr id="6" name="Picture 5" descr="val_nycfold_SF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161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A192F"/>
      </a:accent1>
      <a:accent2>
        <a:srgbClr val="F9FAFC"/>
      </a:accent2>
      <a:accent3>
        <a:srgbClr val="1E90CA"/>
      </a:accent3>
      <a:accent4>
        <a:srgbClr val="E45B14"/>
      </a:accent4>
      <a:accent5>
        <a:srgbClr val="38BDF8"/>
      </a:accent5>
      <a:accent6>
        <a:srgbClr val="00695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slides-spec: week4_12.deck.md sha256:aa2a9658b1d7b6034d10108e89858d76ead23138574ce6186a6179b73e3f258c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